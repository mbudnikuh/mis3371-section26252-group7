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/>
                <a:cs typeface="Arial" pitchFamily="34"/>
              </a:rPr>
              <a:t>Product Return Request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Transaction Workflow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0C8"/>
                </a:solidFill>
                <a:latin typeface="Calibri" pitchFamily="34" charset="0"/>
                <a:ea typeface="Calibri" pitchFamily="34"/>
                <a:cs typeface="Calibri" pitchFamily="34"/>
              </a:rPr>
              <a:t>MIS 3371  •  Transaction Processing Systems I  •  Week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26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0C8"/>
                </a:solidFill>
                <a:latin typeface="Calibri" pitchFamily="34" charset="0"/>
                <a:ea typeface="Calibri" pitchFamily="34"/>
                <a:cs typeface="Calibri" pitchFamily="34"/>
              </a:rPr>
              <a:t>Product Return Request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Workflow Diagram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/>
                <a:cs typeface="Calibri" pitchFamily="34"/>
              </a:rPr>
              <a:t>Activity 1 — exception path shown as a navy-outlined box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1E2761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463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Customer submits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return request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146304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1E2761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31720" y="1463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System validates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order &amp; quantity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1600200" cy="1005840"/>
          </a:xfrm>
          <a:prstGeom prst="diamond">
            <a:avLst/>
          </a:prstGeom>
          <a:solidFill>
            <a:srgbClr val="E7E9F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13258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Within 30-day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window, not final-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sale, qty OK?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325880"/>
            <a:ext cx="1600200" cy="1005840"/>
          </a:xfrm>
          <a:prstGeom prst="diamond">
            <a:avLst/>
          </a:prstGeom>
          <a:solidFill>
            <a:srgbClr val="E7E9F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3258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Reason = Defective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AND value &gt; $200?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1463040"/>
            <a:ext cx="1691640" cy="731520"/>
          </a:xfrm>
          <a:prstGeom prst="roundRect">
            <a:avLst>
              <a:gd name="adj" fmla="val 6875"/>
            </a:avLst>
          </a:prstGeom>
          <a:solidFill>
            <a:srgbClr val="0E8C86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463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Approved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48840" y="1828800"/>
            <a:ext cx="18288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14800" y="1828800"/>
            <a:ext cx="22860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43600" y="1828800"/>
            <a:ext cx="36576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943600" y="15819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Yes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09560" y="1828800"/>
            <a:ext cx="36576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7909560" y="15819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No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20540" y="2697480"/>
            <a:ext cx="1645920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2054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Auto-Reject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(BR-1 / BR-2 / BR-3)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03620" y="2697480"/>
            <a:ext cx="1920240" cy="731520"/>
          </a:xfrm>
          <a:prstGeom prst="roundRect">
            <a:avLst>
              <a:gd name="adj" fmla="val 6875"/>
            </a:avLst>
          </a:prstGeom>
          <a:solidFill>
            <a:srgbClr val="1E2761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03620" y="2697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Route to Supervisor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for review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43500" y="2331720"/>
            <a:ext cx="9144" cy="36576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216652" y="24048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No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09460" y="2331720"/>
            <a:ext cx="9144" cy="36576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182612" y="24048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Yes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80660" y="3794760"/>
            <a:ext cx="1691640" cy="685800"/>
          </a:xfrm>
          <a:prstGeom prst="roundRect">
            <a:avLst>
              <a:gd name="adj" fmla="val 7333"/>
            </a:avLst>
          </a:prstGeom>
          <a:solidFill>
            <a:srgbClr val="0E8C86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80660" y="3794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Supervisor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Approves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46620" y="3794760"/>
            <a:ext cx="1691640" cy="6858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46620" y="3794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Supervisor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Rejects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63740" y="3429000"/>
            <a:ext cx="9144" cy="13716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26480" y="3566160"/>
            <a:ext cx="196596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126480" y="3566160"/>
            <a:ext cx="9144" cy="22860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092440" y="3566160"/>
            <a:ext cx="9144" cy="2286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188720" y="5760720"/>
            <a:ext cx="2103120" cy="731520"/>
          </a:xfrm>
          <a:prstGeom prst="roundRect">
            <a:avLst>
              <a:gd name="adj" fmla="val 6875"/>
            </a:avLst>
          </a:prstGeom>
          <a:solidFill>
            <a:srgbClr val="1E2761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188720" y="5760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Assign Return 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&amp; set status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566160" y="5760720"/>
            <a:ext cx="2377440" cy="731520"/>
          </a:xfrm>
          <a:prstGeom prst="roundRect">
            <a:avLst>
              <a:gd name="adj" fmla="val 6875"/>
            </a:avLst>
          </a:prstGeom>
          <a:solidFill>
            <a:srgbClr val="1E2761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66160" y="5760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Customer ships item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resolution issued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5760720"/>
            <a:ext cx="1737360" cy="731520"/>
          </a:xfrm>
          <a:prstGeom prst="roundRect">
            <a:avLst>
              <a:gd name="adj" fmla="val 6875"/>
            </a:avLst>
          </a:prstGeom>
          <a:solidFill>
            <a:srgbClr val="0E8C86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0" y="5760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Completed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91840" y="6126480"/>
            <a:ext cx="27432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943600" y="6126480"/>
            <a:ext cx="27432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121140" y="2194560"/>
            <a:ext cx="9144" cy="315468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>
            <a:off x="2240280" y="5349240"/>
            <a:ext cx="6880860" cy="9144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240280" y="5349240"/>
            <a:ext cx="9144" cy="41148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126480" y="4480560"/>
            <a:ext cx="9144" cy="54864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H="1">
            <a:off x="1783080" y="5029200"/>
            <a:ext cx="4343400" cy="9144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783080" y="5029200"/>
            <a:ext cx="9144" cy="73152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Decision Points &amp; Exception Path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3438"/>
            </a:avLst>
          </a:prstGeom>
          <a:solidFill>
            <a:srgbClr val="F7F8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Decision Point 1 — Eligibility check (Step 3):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533"/>
                </a:solidFill>
                <a:latin typeface="Calibri" pitchFamily="34" charset="0"/>
                <a:ea typeface="Calibri" pitchFamily="34"/>
                <a:cs typeface="Calibri" pitchFamily="34"/>
              </a:rPr>
              <a:t>Is the request within the 30-day window and not final-sale/clearance?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Decision Point 2 — High-value defective routing (Step 4):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533"/>
                </a:solidFill>
                <a:latin typeface="Calibri" pitchFamily="34" charset="0"/>
                <a:ea typeface="Calibri" pitchFamily="34"/>
                <a:cs typeface="Calibri" pitchFamily="34"/>
              </a:rPr>
              <a:t>Is the reason “Defective” and the item value over $200 (BR-4)?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11064240" cy="1645920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383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Exception Path (Steps 2–3)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533"/>
                </a:solidFill>
                <a:latin typeface="Calibri" pitchFamily="34" charset="0"/>
                <a:ea typeface="Calibri" pitchFamily="34"/>
                <a:cs typeface="Calibri" pitchFamily="34"/>
              </a:rPr>
              <a:t>An order that fails validation — unknown order, quantity exceeding the original purchase, a purchase date more than 30 days old, or a final-sale/clearance item — is automatically rejected with a specific reason (BR-1, BR-2, BR-3) rather than silently failing or requiring manual intervention.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Workflow Worksheet (1 of 2)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/>
                <a:cs typeface="Calibri" pitchFamily="34"/>
              </a:rPr>
              <a:t>Columns: # | Actor | Action | Decision / Condition | Outcome / Next Step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329184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Decision /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Outcome / Next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Submits return request (customer ID, order #, SKU, qty, reason, resolution)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Required fields present?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If missing → reject and flag field; if complete → continue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Validates order exists and quantity ≤ purchased quantity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Order/quantity valid?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If invalid → auto-reject; if valid → continue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Checks purchase date against 30-day policy and final-sale flag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Within window and not final-sale?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If no → auto-reject with reason (BR-1, BR-2); if yes → continue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Evaluates reason code and item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Reason = “Defective” AND value &gt; $200?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If yes → route to supervisor; if no → auto-approve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Workflow Worksheet (2 of 2)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/>
                <a:cs typeface="Calibri" pitchFamily="34"/>
              </a:rPr>
              <a:t>Columns: # | Actor | Action | Decision / Condition | Outcome / Next Step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329184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Decision /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Outcome / Next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Supervisor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Reviews high-value defective return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Approve or reject?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Approve → status Approved; Reject → status Rejected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Assigns Return ID and sets initial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Return ID + status shown to 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Updates status as request moves through workflow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Customer can check status at any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3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Ships item / receives resolution per approved 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33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Status set to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2026-09-20T19:37:22Z</dcterms:created>
  <dcterms:modified xsi:type="dcterms:W3CDTF">2026-09-20T19:37:22Z</dcterms:modified>
</cp:coreProperties>
</file>