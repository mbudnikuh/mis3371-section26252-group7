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/>
                <a:cs typeface="Arial" pitchFamily="34"/>
              </a:rPr>
              <a:t>Product Return Request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8C86"/>
                </a:solidFill>
                <a:latin typeface="Calibri" pitchFamily="34" charset="0"/>
                <a:ea typeface="Calibri" pitchFamily="34"/>
                <a:cs typeface="Calibri" pitchFamily="34"/>
              </a:rPr>
              <a:t>Transaction Workflow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0C8"/>
                </a:solidFill>
                <a:latin typeface="Calibri" pitchFamily="34" charset="0"/>
                <a:ea typeface="Calibri" pitchFamily="34"/>
                <a:cs typeface="Calibri" pitchFamily="34"/>
              </a:rPr>
              <a:t>MIS 3371  •  Transaction Processing Systems I  •  Week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26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0C8"/>
                </a:solidFill>
                <a:latin typeface="Calibri" pitchFamily="34" charset="0"/>
                <a:ea typeface="Calibri" pitchFamily="34"/>
                <a:cs typeface="Calibri" pitchFamily="34"/>
              </a:rPr>
              <a:t>Product Return Request Team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/>
                <a:cs typeface="Arial" pitchFamily="34"/>
              </a:rPr>
              <a:t>Workflow Diagram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/>
                <a:cs typeface="Calibri" pitchFamily="34"/>
              </a:rPr>
              <a:t>Activity 1 — exception path shown as a navy-outlined box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1E2761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4630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Customer submits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return request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31720" y="14630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1E2761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31720" y="14630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System validates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order &amp; quantity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1600200" cy="1005840"/>
          </a:xfrm>
          <a:prstGeom prst="diamond">
            <a:avLst/>
          </a:prstGeom>
          <a:solidFill>
            <a:srgbClr val="E7E9F3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132588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Within 30-day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window, not final-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sale, qty OK?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1600200" cy="1005840"/>
          </a:xfrm>
          <a:prstGeom prst="diamond">
            <a:avLst/>
          </a:prstGeom>
          <a:solidFill>
            <a:srgbClr val="E7E9F3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32588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Reason = Defective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AND value &gt; $200?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75320" y="1463040"/>
            <a:ext cx="1691640" cy="731520"/>
          </a:xfrm>
          <a:prstGeom prst="roundRect">
            <a:avLst>
              <a:gd name="adj" fmla="val 6875"/>
            </a:avLst>
          </a:prstGeom>
          <a:solidFill>
            <a:srgbClr val="0E8C86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4630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Approved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1828800"/>
            <a:ext cx="182880" cy="9144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14800" y="1828800"/>
            <a:ext cx="228600" cy="9144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943600" y="1828800"/>
            <a:ext cx="365760" cy="9144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943600" y="10515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Yes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909560" y="1828800"/>
            <a:ext cx="365760" cy="9144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7909560" y="10515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No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320540" y="2697480"/>
            <a:ext cx="164592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20540" y="26974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Auto-Reject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(BR-1 / BR-2 / BR-3)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03620" y="2697480"/>
            <a:ext cx="1920240" cy="731520"/>
          </a:xfrm>
          <a:prstGeom prst="roundRect">
            <a:avLst>
              <a:gd name="adj" fmla="val 6875"/>
            </a:avLst>
          </a:prstGeom>
          <a:solidFill>
            <a:srgbClr val="1E2761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03620" y="2697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Route to Supervisor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for 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43500" y="2331720"/>
            <a:ext cx="9144" cy="36576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3063240" y="24048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No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109460" y="2331720"/>
            <a:ext cx="9144" cy="36576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7955280" y="24048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Yes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280660" y="3794760"/>
            <a:ext cx="1691640" cy="685800"/>
          </a:xfrm>
          <a:prstGeom prst="roundRect">
            <a:avLst>
              <a:gd name="adj" fmla="val 7333"/>
            </a:avLst>
          </a:prstGeom>
          <a:solidFill>
            <a:srgbClr val="0E8C86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280660" y="3794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Supervisor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Approves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246620" y="3794760"/>
            <a:ext cx="169164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6620" y="3794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Supervisor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Rejects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063740" y="3429000"/>
            <a:ext cx="9144" cy="13716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126480" y="3566160"/>
            <a:ext cx="1965960" cy="9144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126480" y="3566160"/>
            <a:ext cx="9144" cy="228600"/>
          </a:xfrm>
          <a:prstGeom prst="line">
            <a:avLst/>
          </a:prstGeom>
          <a:noFill/>
          <a:ln w="12700">
            <a:solidFill>
              <a:srgbClr val="0E8C8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092440" y="3566160"/>
            <a:ext cx="9144" cy="22860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188720" y="5760720"/>
            <a:ext cx="2103120" cy="731520"/>
          </a:xfrm>
          <a:prstGeom prst="roundRect">
            <a:avLst>
              <a:gd name="adj" fmla="val 6875"/>
            </a:avLst>
          </a:prstGeom>
          <a:solidFill>
            <a:srgbClr val="1E2761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88720" y="5760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Assign Return ID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&amp; set status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566160" y="5760720"/>
            <a:ext cx="2377440" cy="731520"/>
          </a:xfrm>
          <a:prstGeom prst="roundRect">
            <a:avLst>
              <a:gd name="adj" fmla="val 6875"/>
            </a:avLst>
          </a:prstGeom>
          <a:solidFill>
            <a:srgbClr val="1E2761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566160" y="5760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Customer ships item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resolution issued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760720"/>
            <a:ext cx="1737360" cy="731520"/>
          </a:xfrm>
          <a:prstGeom prst="roundRect">
            <a:avLst>
              <a:gd name="adj" fmla="val 6875"/>
            </a:avLst>
          </a:prstGeom>
          <a:solidFill>
            <a:srgbClr val="0E8C86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0" y="5760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/>
                <a:cs typeface="Calibri" pitchFamily="34"/>
              </a:rPr>
              <a:t>Completed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91840" y="6126480"/>
            <a:ext cx="274320" cy="9144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5943600" y="6126480"/>
            <a:ext cx="274320" cy="9144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121140" y="2194560"/>
            <a:ext cx="9144" cy="3154680"/>
          </a:xfrm>
          <a:prstGeom prst="line">
            <a:avLst/>
          </a:prstGeom>
          <a:noFill/>
          <a:ln w="12700">
            <a:solidFill>
              <a:srgbClr val="0E8C86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>
            <a:off x="2240280" y="5349240"/>
            <a:ext cx="6880860" cy="9144"/>
          </a:xfrm>
          <a:prstGeom prst="line">
            <a:avLst/>
          </a:prstGeom>
          <a:noFill/>
          <a:ln w="12700">
            <a:solidFill>
              <a:srgbClr val="0E8C86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40280" y="5349240"/>
            <a:ext cx="9144" cy="411480"/>
          </a:xfrm>
          <a:prstGeom prst="line">
            <a:avLst/>
          </a:prstGeom>
          <a:noFill/>
          <a:ln w="12700">
            <a:solidFill>
              <a:srgbClr val="0E8C8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6126480" y="4480560"/>
            <a:ext cx="9144" cy="548640"/>
          </a:xfrm>
          <a:prstGeom prst="line">
            <a:avLst/>
          </a:prstGeom>
          <a:noFill/>
          <a:ln w="12700">
            <a:solidFill>
              <a:srgbClr val="0E8C86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H="1">
            <a:off x="1783080" y="5029200"/>
            <a:ext cx="4343400" cy="9144"/>
          </a:xfrm>
          <a:prstGeom prst="line">
            <a:avLst/>
          </a:prstGeom>
          <a:noFill/>
          <a:ln w="12700">
            <a:solidFill>
              <a:srgbClr val="0E8C86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783080" y="5029200"/>
            <a:ext cx="9144" cy="731520"/>
          </a:xfrm>
          <a:prstGeom prst="line">
            <a:avLst/>
          </a:prstGeom>
          <a:noFill/>
          <a:ln w="12700">
            <a:solidFill>
              <a:srgbClr val="0E8C8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/>
                <a:cs typeface="Arial" pitchFamily="34"/>
              </a:rPr>
              <a:t>Decision Points &amp; Exception Path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1463040"/>
          </a:xfrm>
          <a:prstGeom prst="roundRect">
            <a:avLst>
              <a:gd name="adj" fmla="val 3438"/>
            </a:avLst>
          </a:prstGeom>
          <a:solidFill>
            <a:srgbClr val="F7F8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Decision Point 1 — Eligibility check (Step 3):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533"/>
                </a:solidFill>
                <a:latin typeface="Calibri" pitchFamily="34" charset="0"/>
                <a:ea typeface="Calibri" pitchFamily="34"/>
                <a:cs typeface="Calibri" pitchFamily="34"/>
              </a:rPr>
              <a:t>Is the request within the 30-day window and not final-sale/clearance?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Decision Point 2 — High-value defective routing (Step 4):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533"/>
                </a:solidFill>
                <a:latin typeface="Calibri" pitchFamily="34" charset="0"/>
                <a:ea typeface="Calibri" pitchFamily="34"/>
                <a:cs typeface="Calibri" pitchFamily="34"/>
              </a:rPr>
              <a:t>Is the reason “Defective” and the item value over $200 (BR-4)?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11064240" cy="1645920"/>
          </a:xfrm>
          <a:prstGeom prst="roundRect">
            <a:avLst>
              <a:gd name="adj" fmla="val 3056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383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/>
                <a:cs typeface="Calibri" pitchFamily="34"/>
              </a:rPr>
              <a:t>Exception Path (Steps 2–3)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533"/>
                </a:solidFill>
                <a:latin typeface="Calibri" pitchFamily="34" charset="0"/>
                <a:ea typeface="Calibri" pitchFamily="34"/>
                <a:cs typeface="Calibri" pitchFamily="34"/>
              </a:rPr>
              <a:t>An order that fails validation — unknown order, quantity exceeding the original purchase, a purchase date more than 30 days old, or a final-sale/clearance item — is automatically rejected with a specific reason (BR-1, BR-2, BR-3) rather than silently failing or requiring manual intervention.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/>
                <a:cs typeface="Arial" pitchFamily="34"/>
              </a:rPr>
              <a:t>Workflow Worksheet (1 of 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/>
                <a:cs typeface="Calibri" pitchFamily="34"/>
              </a:rPr>
              <a:t>Columns: # | Actor | Action | Decision / Condition | Outcome / Next Step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329184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Decision / 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Outcome / Next 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Customer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Submits return request (customer ID, order #, SKU, qty, reason, resolution)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Required fields present?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If missing → reject and flag field; if complete → continue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System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Validates order exists and quantity ≤ purchased 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Order/quantity valid?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If invalid → auto-reject; if valid → continue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System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Checks purchase date against 30-day policy and final-sale flag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Within window and not final-sale?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If no → auto-reject with reason (BR-1, BR-2); if yes → continue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System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Evaluates reason code and item 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Reason = “Defective” AND value &gt; $200?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If yes → route to supervisor; if no → auto-approve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/>
                <a:cs typeface="Arial" pitchFamily="34"/>
              </a:rPr>
              <a:t>Workflow Worksheet (2 of 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/>
                <a:cs typeface="Calibri" pitchFamily="34"/>
              </a:rPr>
              <a:t>Columns: # | Actor | Action | Decision / Condition | Outcome / Next Step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329184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Decision / 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Outcome / Next 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Supervisor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Reviews high-value defective return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Approve or reject?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Approve → status Approved; Reject → status Rejected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System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Assigns Return ID and sets initial 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Return ID + status shown to customer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System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Updates status as request moves through workflow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Customer can check status at any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533"/>
                          </a:solidFill>
                          <a:latin typeface="Courier New" pitchFamily="34" charset="0"/>
                          <a:ea typeface="Courier New" pitchFamily="34"/>
                          <a:cs typeface="Courier New" pitchFamily="34"/>
                        </a:rPr>
                        <a:t>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Customer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Ships item / receives resolution per approved request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533"/>
                          </a:solidFill>
                          <a:latin typeface="Calibri" pitchFamily="34" charset="0"/>
                          <a:ea typeface="Calibri" pitchFamily="34"/>
                          <a:cs typeface="Calibri" pitchFamily="34"/>
                        </a:rPr>
                        <a:t>Status set to Completed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2026-09-20T19:26:57Z</dcterms:created>
  <dcterms:modified xsi:type="dcterms:W3CDTF">2026-09-20T19:26:57Z</dcterms:modified>
</cp:coreProperties>
</file>