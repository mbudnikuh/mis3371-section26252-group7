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Return Request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8803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Workflow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3371 • Transaction Processing Systems I • Week 3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Return Request Team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Diagram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— exception path shown in red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33172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02920" y="1371600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submits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request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834640" y="1655064"/>
            <a:ext cx="228600" cy="0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063240" y="1371600"/>
            <a:ext cx="233172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063240" y="1371600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validates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&amp; quantity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394960" y="1655064"/>
            <a:ext cx="228600" cy="0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692140" y="1234440"/>
            <a:ext cx="2194560" cy="960120"/>
          </a:xfrm>
          <a:prstGeom prst="diamond">
            <a:avLst/>
          </a:prstGeom>
          <a:solidFill>
            <a:srgbClr val="FFF3C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92140" y="1234440"/>
            <a:ext cx="2194560" cy="9601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30-day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window, not final-sale,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OK?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55280" y="1655064"/>
            <a:ext cx="228600" cy="0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8092440" y="10515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6B4E"/>
                </a:solidFill>
              </a:rPr>
              <a:t>Yes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252460" y="1234440"/>
            <a:ext cx="2194560" cy="960120"/>
          </a:xfrm>
          <a:prstGeom prst="diamond">
            <a:avLst/>
          </a:prstGeom>
          <a:solidFill>
            <a:srgbClr val="FFF3CD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52460" y="1234440"/>
            <a:ext cx="2194560" cy="9601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= Defective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value &gt; $200?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515600" y="1655064"/>
            <a:ext cx="0" cy="0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652760" y="10515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6B4E"/>
                </a:solidFill>
              </a:rPr>
              <a:t>No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515600" y="1371600"/>
            <a:ext cx="1188720" cy="566928"/>
          </a:xfrm>
          <a:prstGeom prst="roundRect">
            <a:avLst>
              <a:gd name="adj" fmla="val 12903"/>
            </a:avLst>
          </a:prstGeom>
          <a:solidFill>
            <a:srgbClr val="E4F2EB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0515600" y="1371600"/>
            <a:ext cx="11887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49740" y="2194560"/>
            <a:ext cx="0" cy="548640"/>
          </a:xfrm>
          <a:prstGeom prst="line">
            <a:avLst/>
          </a:prstGeom>
          <a:noFill/>
          <a:ln w="19050">
            <a:solidFill>
              <a:srgbClr val="8A6D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9441180" y="2331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6D00"/>
                </a:solidFill>
              </a:rPr>
              <a:t>Yes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909560" y="2743200"/>
            <a:ext cx="2880360" cy="566928"/>
          </a:xfrm>
          <a:prstGeom prst="roundRect">
            <a:avLst>
              <a:gd name="adj" fmla="val 12903"/>
            </a:avLst>
          </a:prstGeom>
          <a:solidFill>
            <a:srgbClr val="FFF3CD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909560" y="2743200"/>
            <a:ext cx="28803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Supervisor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review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60920" y="4041648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E4F2EB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360920" y="4041648"/>
            <a:ext cx="155448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98280" y="4041648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BE4E8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098280" y="4041648"/>
            <a:ext cx="155448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B1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B1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138160" y="4041648"/>
            <a:ext cx="0" cy="-731520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75520" y="4041648"/>
            <a:ext cx="0" cy="-731520"/>
          </a:xfrm>
          <a:prstGeom prst="line">
            <a:avLst/>
          </a:prstGeom>
          <a:noFill/>
          <a:ln w="19050">
            <a:solidFill>
              <a:srgbClr val="9B1B30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789420" y="2194560"/>
            <a:ext cx="0" cy="274320"/>
          </a:xfrm>
          <a:prstGeom prst="line">
            <a:avLst/>
          </a:prstGeom>
          <a:noFill/>
          <a:ln w="19050">
            <a:solidFill>
              <a:srgbClr val="9B1B30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6789420" y="2468880"/>
            <a:ext cx="-5143500" cy="0"/>
          </a:xfrm>
          <a:prstGeom prst="line">
            <a:avLst/>
          </a:prstGeom>
          <a:noFill/>
          <a:ln w="19050">
            <a:solidFill>
              <a:srgbClr val="9B1B30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645920" y="2468880"/>
            <a:ext cx="0" cy="274320"/>
          </a:xfrm>
          <a:prstGeom prst="line">
            <a:avLst/>
          </a:prstGeom>
          <a:noFill/>
          <a:ln w="19050">
            <a:solidFill>
              <a:srgbClr val="9B1B3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154680" y="217627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B1B30"/>
                </a:solidFill>
              </a:rPr>
              <a:t>No (exception)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77240" y="274320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FBE4E8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77240" y="2743200"/>
            <a:ext cx="17373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B1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Auto-Reject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9B1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(BR-1 / BR-2 / BR-3)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063240" y="5065776"/>
            <a:ext cx="233172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3063240" y="5065776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Return ID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set status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394960" y="5349240"/>
            <a:ext cx="228600" cy="0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623560" y="5065776"/>
            <a:ext cx="2331720" cy="566928"/>
          </a:xfrm>
          <a:prstGeom prst="roundRect">
            <a:avLst>
              <a:gd name="adj" fmla="val 1290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5623560" y="5065776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ships item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issued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955280" y="5349240"/>
            <a:ext cx="228600" cy="0"/>
          </a:xfrm>
          <a:prstGeom prst="line">
            <a:avLst/>
          </a:prstGeom>
          <a:noFill/>
          <a:ln w="19050">
            <a:solidFill>
              <a:srgbClr val="555555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183880" y="5065776"/>
            <a:ext cx="2331720" cy="566928"/>
          </a:xfrm>
          <a:prstGeom prst="roundRect">
            <a:avLst>
              <a:gd name="adj" fmla="val 12903"/>
            </a:avLst>
          </a:prstGeom>
          <a:solidFill>
            <a:srgbClr val="E4F2EB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8183880" y="5065776"/>
            <a:ext cx="23317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1704320" y="1655064"/>
            <a:ext cx="0" cy="2066544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11704320" y="3721608"/>
            <a:ext cx="-7475220" cy="0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4229100" y="3721608"/>
            <a:ext cx="0" cy="1344168"/>
          </a:xfrm>
          <a:prstGeom prst="line">
            <a:avLst/>
          </a:prstGeom>
          <a:noFill/>
          <a:ln w="19050">
            <a:solidFill>
              <a:srgbClr val="1E6B4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Points &amp; Exception Path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F4F6FC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Point 1 — Eligibility check (Step 3): </a:t>
            </a:r>
            <a:pPr indent="0" marL="0">
              <a:buNone/>
            </a:pPr>
            <a:r>
              <a:rPr lang="en-US" sz="130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request within the 30-day window and not final-sale/clearance?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Point 2 — High-value defective routing (Step 4): </a:t>
            </a:r>
            <a:pPr indent="0" marL="0">
              <a:buNone/>
            </a:pPr>
            <a:r>
              <a:rPr lang="en-US" sz="130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reason “Defective” and the item value over $200 (BR-4)?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FBE4E8"/>
          </a:solidFill>
          <a:ln w="9525">
            <a:solidFill>
              <a:srgbClr val="9B1B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0175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1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Path (Steps 2–3)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that fails validation — unknown order, quantity exceeding the original purchase, a purchase date more than 30 days old, or a final-sale/clearance item — is automatically rejected with a specific reason (BR-1, BR-2, BR-3) rather than silently failing or requiring manual intervention.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Worksheet (1 of 2)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# | Actor | Action | Decision / Condition | Outcome / Next Step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554480"/>
                <a:gridCol w="3017520"/>
                <a:gridCol w="3017520"/>
                <a:gridCol w="329184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/ 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/ Next 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Submits return request (customer ID, order #, SKU, qty, reason, resolution)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fields present?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missing → reject and flag field; if complete → continue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order exists and quantity ≤ purchased quantity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Order/quantity valid?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invalid → auto-reject; if valid → continue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purchase date against 30-day policy and final-sale flag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window and not final-sale?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no → auto-reject with reason (BR-1, BR-2); if yes → continue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Evaluates reason code and item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 = “Defective” AND value &gt; $200?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yes → route to supervisor; if no → auto-approve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Worksheet (2 of 2)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# | Actor | Action | Decision / Condition | Outcome / Next Step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554480"/>
                <a:gridCol w="3017520"/>
                <a:gridCol w="3017520"/>
                <a:gridCol w="329184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/ 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 / Next 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 high-value defective 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or reject?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→ status Approved; Reject → status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Assigns Return ID and sets initial 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ID + status shown to 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Updates status as request moves through workflow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can check status at any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Ships item / receives resolution per approved request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0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set to Completed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2026-09-20T19:02:24Z</dcterms:created>
  <dcterms:modified xsi:type="dcterms:W3CDTF">2026-09-20T19:02:24Z</dcterms:modified>
</cp:coreProperties>
</file>